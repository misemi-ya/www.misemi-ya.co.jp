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embeddedFontLst>
    <p:embeddedFont>
      <p:font typeface="Play" panose="020B060007020508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ggwjeojXIcmy+/jkUV1NIXTkXE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2C3574-12BE-401E-BDFB-0153CC6CD8F8}" v="15" dt="2025-07-28T10:43:46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3a549516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3a549516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fe70d25f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ffe70d25f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ffe70d25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ffe70d25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ffe70d25f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ffe70d25f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ffe70d25f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ffe70d25f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ffe70d25f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ffe70d25f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ff17e32a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fff17e32a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fff17e32a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fff17e32a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fff17e32a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fff17e32a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ff17e32a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fff17e32a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ff17e32a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fff17e32a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0035c04f8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0035c04f8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0035c04f8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0035c04f8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035c04f8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0035c04f8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035c04f8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0035c04f8f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0035c04f8f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0035c04f8f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0035c04f8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0035c04f8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0035c04f8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0035c04f8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0035c04f8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0035c04f8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035c04f8f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0035c04f8f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05cbf25a6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05cbf25a6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05cbf25a6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05cbf25a6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05cbf25a6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05cbf25a6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05cbf25a6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05cbf25a61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05cbf25a61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05cbf25a61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05cbf25a61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05cbf25a61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0369b3a4b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0369b3a4b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0369b3a4b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0369b3a4b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0369b3a4b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30369b3a4b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0369b3a4b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30369b3a4b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0369b3a4b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g30369b3a4b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0369b3a4b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0369b3a4b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&#10;コンテンツ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&#10;縦書きテキスト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anaviewer.jp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ja-JP"/>
              <a:t>What do you like?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ja-JP"/>
              <a:t>何が好きですか?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3a5495166_0_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33a5495166_0_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皆さんは好きな○○ありますか？</a:t>
            </a:r>
            <a:endParaRPr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1197634" y="2357588"/>
            <a:ext cx="9451675" cy="215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endParaRPr sz="6000" u="s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fe70d25f7_0_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皆さんは好きな○○ありますか？</a:t>
            </a:r>
            <a:endParaRPr/>
          </a:p>
        </p:txBody>
      </p:sp>
      <p:sp>
        <p:nvSpPr>
          <p:cNvPr id="103" name="Google Shape;103;g2ffe70d25f7_0_20"/>
          <p:cNvSpPr txBox="1">
            <a:spLocks noGrp="1"/>
          </p:cNvSpPr>
          <p:nvPr>
            <p:ph type="body" idx="1"/>
          </p:nvPr>
        </p:nvSpPr>
        <p:spPr>
          <a:xfrm>
            <a:off x="1002350" y="202627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ja-JP" sz="6000" u="sng">
                <a:latin typeface="MS PGothic"/>
                <a:ea typeface="MS PGothic"/>
                <a:cs typeface="MS PGothic"/>
                <a:sym typeface="MS PGothic"/>
              </a:rPr>
              <a:t>好きな○○を英語で言ってみよう！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ja-JP"/>
              <a:t>例えば...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1"/>
          </p:nvPr>
        </p:nvSpPr>
        <p:spPr>
          <a:xfrm>
            <a:off x="838200" y="182003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ja-JP"/>
              <a:t>I like sports.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 sz="1800" u="sng">
                <a:latin typeface="MS PGothic"/>
                <a:ea typeface="MS PGothic"/>
                <a:cs typeface="MS PGothic"/>
                <a:sym typeface="MS PGothic"/>
              </a:rPr>
              <a:t>スポーツが好き</a:t>
            </a:r>
            <a:endParaRPr sz="1800" u="sng">
              <a:latin typeface="MS PGothic"/>
              <a:ea typeface="MS PGothic"/>
              <a:cs typeface="MS PGothic"/>
              <a:sym typeface="MS PGothic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u="sn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ffe70d25f7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例えば...</a:t>
            </a:r>
            <a:endParaRPr/>
          </a:p>
        </p:txBody>
      </p:sp>
      <p:sp>
        <p:nvSpPr>
          <p:cNvPr id="115" name="Google Shape;115;g2ffe70d25f7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I like sports.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-JP" sz="1800" u="sng">
                <a:latin typeface="MS PGothic"/>
                <a:ea typeface="MS PGothic"/>
                <a:cs typeface="MS PGothic"/>
                <a:sym typeface="MS PGothic"/>
              </a:rPr>
              <a:t>スポーツが好き</a:t>
            </a:r>
            <a:endParaRPr sz="1800" u="sng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I like study.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-JP" sz="1800" u="sng">
                <a:latin typeface="MS PGothic"/>
                <a:ea typeface="MS PGothic"/>
                <a:cs typeface="MS PGothic"/>
                <a:sym typeface="MS PGothic"/>
              </a:rPr>
              <a:t>勉強が好き</a:t>
            </a:r>
            <a:endParaRPr sz="1800" u="sng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ffe70d25f7_0_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例えば...</a:t>
            </a:r>
            <a:endParaRPr/>
          </a:p>
        </p:txBody>
      </p:sp>
      <p:sp>
        <p:nvSpPr>
          <p:cNvPr id="121" name="Google Shape;121;g2ffe70d25f7_0_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I like sports.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-JP" sz="1800" u="sng">
                <a:latin typeface="MS PGothic"/>
                <a:ea typeface="MS PGothic"/>
                <a:cs typeface="MS PGothic"/>
                <a:sym typeface="MS PGothic"/>
              </a:rPr>
              <a:t>スポーツが好き</a:t>
            </a:r>
            <a:endParaRPr sz="1800" u="sng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I like study.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-JP" sz="1800" u="sng">
                <a:latin typeface="MS PGothic"/>
                <a:ea typeface="MS PGothic"/>
                <a:cs typeface="MS PGothic"/>
                <a:sym typeface="MS PGothic"/>
              </a:rPr>
              <a:t>勉強が好き</a:t>
            </a:r>
            <a:endParaRPr sz="1800" u="sng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I like eating.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-JP" sz="1800" u="sng">
                <a:latin typeface="MS PGothic"/>
                <a:ea typeface="MS PGothic"/>
                <a:cs typeface="MS PGothic"/>
                <a:sym typeface="MS PGothic"/>
              </a:rPr>
              <a:t>食べることが好き</a:t>
            </a:r>
            <a:endParaRPr sz="1800" u="sng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fe70d25f7_0_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例えば...</a:t>
            </a:r>
            <a:endParaRPr/>
          </a:p>
        </p:txBody>
      </p:sp>
      <p:sp>
        <p:nvSpPr>
          <p:cNvPr id="127" name="Google Shape;127;g2ffe70d25f7_0_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I like sports.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-JP" sz="1800" u="sng">
                <a:latin typeface="MS PGothic"/>
                <a:ea typeface="MS PGothic"/>
                <a:cs typeface="MS PGothic"/>
                <a:sym typeface="MS PGothic"/>
              </a:rPr>
              <a:t>スポーツが好き</a:t>
            </a:r>
            <a:endParaRPr sz="1800" u="sng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I like study.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-JP" sz="1800" u="sng">
                <a:latin typeface="MS PGothic"/>
                <a:ea typeface="MS PGothic"/>
                <a:cs typeface="MS PGothic"/>
                <a:sym typeface="MS PGothic"/>
              </a:rPr>
              <a:t>勉強が好き</a:t>
            </a:r>
            <a:endParaRPr sz="1800" u="sng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I like eating.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-JP" sz="1800" u="sng">
                <a:latin typeface="MS PGothic"/>
                <a:ea typeface="MS PGothic"/>
                <a:cs typeface="MS PGothic"/>
                <a:sym typeface="MS PGothic"/>
              </a:rPr>
              <a:t>食べることが好き</a:t>
            </a:r>
            <a:endParaRPr sz="1800" u="sng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I like to play.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-JP" sz="1800" u="sng">
                <a:latin typeface="MS PGothic"/>
                <a:ea typeface="MS PGothic"/>
                <a:cs typeface="MS PGothic"/>
                <a:sym typeface="MS PGothic"/>
              </a:rPr>
              <a:t>遊ぶことが好き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誰かに話してみよう！</a:t>
            </a:r>
            <a:endParaRPr/>
          </a:p>
        </p:txBody>
      </p:sp>
      <p:sp>
        <p:nvSpPr>
          <p:cNvPr id="133" name="Google Shape;13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fe70d25f7_0_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誰かに話してみよう！</a:t>
            </a:r>
            <a:endParaRPr/>
          </a:p>
        </p:txBody>
      </p:sp>
      <p:sp>
        <p:nvSpPr>
          <p:cNvPr id="139" name="Google Shape;139;g2ffe70d25f7_0_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例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I like sports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ff17e32a3_0_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誰かに話してみよう！</a:t>
            </a:r>
            <a:endParaRPr/>
          </a:p>
        </p:txBody>
      </p:sp>
      <p:sp>
        <p:nvSpPr>
          <p:cNvPr id="145" name="Google Shape;145;g2fff17e32a3_0_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例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I like sports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Do you like sports?</a:t>
            </a:r>
            <a:endParaRPr>
              <a:latin typeface="MS PGothic"/>
              <a:ea typeface="MS PGothic"/>
              <a:cs typeface="MS PGothic"/>
              <a:sym typeface="MS P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ff17e32a3_0_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誰かに話してみよう！</a:t>
            </a:r>
            <a:endParaRPr/>
          </a:p>
        </p:txBody>
      </p:sp>
      <p:sp>
        <p:nvSpPr>
          <p:cNvPr id="151" name="Google Shape;151;g2fff17e32a3_0_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例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I like sports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Do you like sports?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Yes,I do/No,I don't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ff17e32a3_0_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誰かに話してみよう！</a:t>
            </a:r>
            <a:endParaRPr/>
          </a:p>
        </p:txBody>
      </p:sp>
      <p:sp>
        <p:nvSpPr>
          <p:cNvPr id="157" name="Google Shape;157;g2fff17e32a3_0_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例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I like sports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Do you like sports?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Yes,I do/No,I don't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Really?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ff17e32a3_0_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誰かに話してみよう！</a:t>
            </a:r>
            <a:endParaRPr/>
          </a:p>
        </p:txBody>
      </p:sp>
      <p:sp>
        <p:nvSpPr>
          <p:cNvPr id="163" name="Google Shape;163;g2fff17e32a3_0_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例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I like sports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Do you like sports?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Yes,I do/No,I don't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Really?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(Yes)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fff17e32a3_0_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誰かに話してみよう！</a:t>
            </a:r>
            <a:endParaRPr/>
          </a:p>
        </p:txBody>
      </p:sp>
      <p:sp>
        <p:nvSpPr>
          <p:cNvPr id="169" name="Google Shape;169;g2fff17e32a3_0_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例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I like sports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Do you like sports?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Yes,I do/No,I don't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Really?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(Yes)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ja-JP"/>
              <a:t>Oh I see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1472608" y="1380564"/>
            <a:ext cx="4561369" cy="2346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Play"/>
              <a:buNone/>
            </a:pPr>
            <a:r>
              <a:rPr lang="ja-JP" sz="3200">
                <a:solidFill>
                  <a:srgbClr val="595959"/>
                </a:solidFill>
                <a:latin typeface="Play"/>
                <a:ea typeface="Play"/>
                <a:cs typeface="Play"/>
                <a:sym typeface="Play"/>
              </a:rPr>
              <a:t>言えたかな？今度は聞いてみよう</a:t>
            </a:r>
            <a:endParaRPr sz="3200">
              <a:solidFill>
                <a:srgbClr val="595959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7" name="Google Shape;177;p5"/>
          <p:cNvSpPr txBox="1">
            <a:spLocks noGrp="1"/>
          </p:cNvSpPr>
          <p:nvPr>
            <p:ph type="body" idx="1"/>
          </p:nvPr>
        </p:nvSpPr>
        <p:spPr>
          <a:xfrm>
            <a:off x="1472608" y="4061345"/>
            <a:ext cx="4561369" cy="1416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None/>
            </a:pPr>
            <a:r>
              <a:rPr lang="ja-JP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https://manaviewer.jp/</a:t>
            </a:r>
            <a:endParaRPr/>
          </a:p>
        </p:txBody>
      </p:sp>
      <p:pic>
        <p:nvPicPr>
          <p:cNvPr id="178" name="Google Shape;178;p5" descr="QR コード&#10;&#10;説明は自動で生成されたものです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0935" y="1419785"/>
            <a:ext cx="4018430" cy="4018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0035c04f8f_0_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Unit4 誰かを紹介してみよう！</a:t>
            </a:r>
            <a:endParaRPr/>
          </a:p>
        </p:txBody>
      </p:sp>
      <p:sp>
        <p:nvSpPr>
          <p:cNvPr id="184" name="Google Shape;184;g30035c04f8f_0_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学ぼう！</a:t>
            </a:r>
            <a:endParaRPr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低知能の人権なし!wwwwwwwwww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0035c04f8f_0_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この人は誰？</a:t>
            </a:r>
            <a:endParaRPr/>
          </a:p>
        </p:txBody>
      </p:sp>
      <p:sp>
        <p:nvSpPr>
          <p:cNvPr id="190" name="Google Shape;190;g30035c04f8f_0_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This is Mr,Daiju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god,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popular,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funny,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the strongest,</a:t>
            </a:r>
            <a:endParaRPr sz="2100">
              <a:solidFill>
                <a:srgbClr val="1F1F1F"/>
              </a:solidFill>
              <a:highlight>
                <a:srgbClr val="F8F9FA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1" name="Google Shape;191;g30035c04f8f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6175" y="1511154"/>
            <a:ext cx="4429725" cy="33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035c04f8f_0_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この人は誰？</a:t>
            </a:r>
            <a:endParaRPr/>
          </a:p>
        </p:txBody>
      </p:sp>
      <p:sp>
        <p:nvSpPr>
          <p:cNvPr id="197" name="Google Shape;197;g30035c04f8f_0_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This is Kaihatu Hikaru,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YouTuber,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His YouTube name is HIKAKIN,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videos are funny,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god of YouTube,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someone everyone knows,</a:t>
            </a:r>
            <a:endParaRPr/>
          </a:p>
        </p:txBody>
      </p:sp>
      <p:pic>
        <p:nvPicPr>
          <p:cNvPr id="198" name="Google Shape;198;g30035c04f8f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1000" y="693425"/>
            <a:ext cx="2927150" cy="390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035c04f8f_0_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分かったかな？次はクイズを作ってみよう！</a:t>
            </a:r>
            <a:endParaRPr/>
          </a:p>
        </p:txBody>
      </p:sp>
      <p:sp>
        <p:nvSpPr>
          <p:cNvPr id="204" name="Google Shape;204;g30035c04f8f_0_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例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名前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年齢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特技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持っているもの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飼っているもの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家族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好きな/嫌いなもの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好きな/嫌いな食べ物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その他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035c04f8f_0_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低知能の割にはやるやん、これはどうかな？</a:t>
            </a:r>
            <a:endParaRPr/>
          </a:p>
        </p:txBody>
      </p:sp>
      <p:sp>
        <p:nvSpPr>
          <p:cNvPr id="210" name="Google Shape;210;g30035c04f8f_0_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この人は誰でしょう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baseball player,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kind,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popular,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</a:t>
            </a:r>
            <a:r>
              <a:rPr lang="ja-JP">
                <a:solidFill>
                  <a:srgbClr val="1F1F1F"/>
                </a:solidFill>
                <a:highlight>
                  <a:srgbClr val="F8F9FA"/>
                </a:highlight>
              </a:rPr>
              <a:t>are married,</a:t>
            </a:r>
            <a:endParaRPr>
              <a:solidFill>
                <a:srgbClr val="1F1F1F"/>
              </a:solidFill>
              <a:highlight>
                <a:srgbClr val="F8F9FA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>
                <a:solidFill>
                  <a:srgbClr val="1F1F1F"/>
                </a:solidFill>
                <a:highlight>
                  <a:srgbClr val="F8F9FA"/>
                </a:highlight>
              </a:rPr>
              <a:t>He’s friend is Ippei Mizuhara,</a:t>
            </a:r>
            <a:endParaRPr>
              <a:solidFill>
                <a:srgbClr val="1F1F1F"/>
              </a:solidFill>
              <a:highlight>
                <a:srgbClr val="F8F9FA"/>
              </a:highlight>
            </a:endParaRPr>
          </a:p>
          <a:p>
            <a:pPr marL="0" marR="3810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solidFill>
                  <a:srgbClr val="1F1F1F"/>
                </a:solidFill>
                <a:highlight>
                  <a:srgbClr val="F8F9FA"/>
                </a:highlight>
              </a:rPr>
              <a:t>Did you understand?</a:t>
            </a:r>
            <a:endParaRPr>
              <a:solidFill>
                <a:srgbClr val="1F1F1F"/>
              </a:solidFill>
              <a:highlight>
                <a:srgbClr val="F8F9FA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0035c04f8f_0_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正解は...</a:t>
            </a:r>
            <a:endParaRPr/>
          </a:p>
        </p:txBody>
      </p:sp>
      <p:sp>
        <p:nvSpPr>
          <p:cNvPr id="216" name="Google Shape;216;g30035c04f8f_0_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大谷 翔平でした。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さすがに分かったよね！！！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わかんないのは</a:t>
            </a:r>
            <a:r>
              <a:rPr lang="ja-JP" altLang="en-US"/>
              <a:t>あほ</a:t>
            </a:r>
            <a:r>
              <a:rPr lang="ja-JP"/>
              <a:t>すぎるよ！！</a:t>
            </a:r>
            <a:endParaRPr/>
          </a:p>
        </p:txBody>
      </p:sp>
      <p:pic>
        <p:nvPicPr>
          <p:cNvPr id="217" name="Google Shape;217;g30035c04f8f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9150" y="365125"/>
            <a:ext cx="5659500" cy="36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0035c04f8f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0525" y="3677625"/>
            <a:ext cx="3748799" cy="249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0035c04f8f_0_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次はわかるかな？</a:t>
            </a:r>
            <a:endParaRPr/>
          </a:p>
        </p:txBody>
      </p:sp>
      <p:sp>
        <p:nvSpPr>
          <p:cNvPr id="224" name="Google Shape;224;g30035c04f8f_0_7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</a:t>
            </a:r>
            <a:r>
              <a:rPr lang="ja-JP">
                <a:solidFill>
                  <a:srgbClr val="1F1F1F"/>
                </a:solidFill>
                <a:highlight>
                  <a:srgbClr val="F8F9FA"/>
                </a:highlight>
              </a:rPr>
              <a:t>singer and actor and voice actor,</a:t>
            </a:r>
            <a:endParaRPr>
              <a:solidFill>
                <a:srgbClr val="1F1F1F"/>
              </a:solidFill>
              <a:highlight>
                <a:srgbClr val="F8F9FA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</a:t>
            </a:r>
            <a:r>
              <a:rPr lang="ja-JP">
                <a:solidFill>
                  <a:srgbClr val="1F1F1F"/>
                </a:solidFill>
                <a:highlight>
                  <a:srgbClr val="F8F9FA"/>
                </a:highlight>
              </a:rPr>
              <a:t>Handsome guy,</a:t>
            </a:r>
            <a:endParaRPr>
              <a:solidFill>
                <a:srgbClr val="1F1F1F"/>
              </a:solidFill>
              <a:highlight>
                <a:srgbClr val="F8F9FA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from Tokyo,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51 years old,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Blood type is O type,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He’s Height is 176cm,</a:t>
            </a:r>
            <a:endParaRPr/>
          </a:p>
          <a:p>
            <a:pPr marL="0" marR="3810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>
                <a:solidFill>
                  <a:srgbClr val="1F1F1F"/>
                </a:solidFill>
                <a:highlight>
                  <a:srgbClr val="F8F9FA"/>
                </a:highlight>
              </a:rPr>
              <a:t>Did you understand?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0035c04f8f_0_9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正解は...</a:t>
            </a:r>
            <a:endParaRPr/>
          </a:p>
        </p:txBody>
      </p:sp>
      <p:sp>
        <p:nvSpPr>
          <p:cNvPr id="230" name="Google Shape;230;g30035c04f8f_0_9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 altLang="en-US"/>
              <a:t>キムタク（木村拓哉）</a:t>
            </a:r>
            <a:r>
              <a:rPr lang="ja-JP"/>
              <a:t>でした！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わかったかな？wwwwwwwww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わかるわけないかwwwwwwwwww</a:t>
            </a:r>
            <a:endParaRPr/>
          </a:p>
        </p:txBody>
      </p:sp>
      <p:pic>
        <p:nvPicPr>
          <p:cNvPr id="231" name="Google Shape;231;g30035c04f8f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3850" y="729175"/>
            <a:ext cx="5280900" cy="35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0035c04f8f_0_9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今日はここまで</a:t>
            </a:r>
            <a:endParaRPr/>
          </a:p>
        </p:txBody>
      </p:sp>
      <p:sp>
        <p:nvSpPr>
          <p:cNvPr id="237" name="Google Shape;237;g30035c04f8f_0_96"/>
          <p:cNvSpPr txBox="1">
            <a:spLocks noGrp="1"/>
          </p:cNvSpPr>
          <p:nvPr>
            <p:ph type="body" idx="1"/>
          </p:nvPr>
        </p:nvSpPr>
        <p:spPr>
          <a:xfrm>
            <a:off x="2461525" y="26527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 sz="11100">
                <a:solidFill>
                  <a:srgbClr val="FF0000"/>
                </a:solidFill>
              </a:rPr>
              <a:t>ばいばい！</a:t>
            </a:r>
            <a:endParaRPr sz="111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05cbf25a61_0_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　　</a:t>
            </a:r>
            <a:r>
              <a:rPr lang="ja-JP">
                <a:solidFill>
                  <a:srgbClr val="FF0000"/>
                </a:solidFill>
              </a:rPr>
              <a:t>Can</a:t>
            </a:r>
            <a:r>
              <a:rPr lang="ja-JP"/>
              <a:t>ってなぁに？</a:t>
            </a:r>
            <a:endParaRPr/>
          </a:p>
        </p:txBody>
      </p:sp>
      <p:sp>
        <p:nvSpPr>
          <p:cNvPr id="243" name="Google Shape;243;g305cbf25a61_0_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わかるかな？wwwwwwwwwwwww</a:t>
            </a:r>
            <a:endParaRPr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わかんないかwwwwwwwwwwwwwww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05cbf25a61_0_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>
                <a:solidFill>
                  <a:srgbClr val="FF0000"/>
                </a:solidFill>
              </a:rPr>
              <a:t>Can</a:t>
            </a:r>
            <a:r>
              <a:rPr lang="ja-JP"/>
              <a:t>について学ぼう</a:t>
            </a:r>
            <a:endParaRPr/>
          </a:p>
        </p:txBody>
      </p:sp>
      <p:sp>
        <p:nvSpPr>
          <p:cNvPr id="249" name="Google Shape;249;g305cbf25a61_0_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>
                <a:solidFill>
                  <a:srgbClr val="FF0000"/>
                </a:solidFill>
              </a:rPr>
              <a:t>can</a:t>
            </a:r>
            <a:r>
              <a:rPr lang="ja-JP"/>
              <a:t>とは、「</a:t>
            </a:r>
            <a:r>
              <a:rPr lang="ja-JP">
                <a:solidFill>
                  <a:srgbClr val="00FFFF"/>
                </a:solidFill>
              </a:rPr>
              <a:t>できる</a:t>
            </a:r>
            <a:r>
              <a:rPr lang="ja-JP"/>
              <a:t>」という意味だよ？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どのように使うかを見せてあげよう！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5cbf25a61_0_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Canの使い方......</a:t>
            </a:r>
            <a:endParaRPr/>
          </a:p>
        </p:txBody>
      </p:sp>
      <p:sp>
        <p:nvSpPr>
          <p:cNvPr id="255" name="Google Shape;255;g305cbf25a61_0_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(Tomoshi) Hi Ms.Hukano.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(Hukano) Hi Mr.Tomoshi.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(Tomoshi) Can you speak Japanese?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(Hukano) Yes.I can.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(Tomoshi) Let me tell you something.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(Hukano) OK.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(Hukano) こんにちは、私は深野です。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(Tomoshi) Oh you are pro!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(Hukano) Thank you.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10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05cbf25a61_0_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わかったかな？</a:t>
            </a:r>
            <a:endParaRPr/>
          </a:p>
        </p:txBody>
      </p:sp>
      <p:sp>
        <p:nvSpPr>
          <p:cNvPr id="261" name="Google Shape;261;g305cbf25a61_0_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こんな感じで会話をするよ。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じゃあ誰かと話してみよう！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05cbf25a61_0_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うぇーいやるやん</a:t>
            </a:r>
            <a:endParaRPr/>
          </a:p>
        </p:txBody>
      </p:sp>
      <p:sp>
        <p:nvSpPr>
          <p:cNvPr id="267" name="Google Shape;267;g305cbf25a61_0_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-JP"/>
              <a:t>今日はここまで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05cbf25a61_0_48"/>
          <p:cNvSpPr txBox="1">
            <a:spLocks noGrp="1"/>
          </p:cNvSpPr>
          <p:nvPr>
            <p:ph type="ctrTitle"/>
          </p:nvPr>
        </p:nvSpPr>
        <p:spPr>
          <a:xfrm>
            <a:off x="1524000" y="1596775"/>
            <a:ext cx="9144000" cy="2634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0">
                <a:solidFill>
                  <a:srgbClr val="FF0000"/>
                </a:solidFill>
              </a:rPr>
              <a:t>ばいばい！</a:t>
            </a:r>
            <a:endParaRPr sz="10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0369b3a4bd_0_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ja-JP"/>
              <a:t>ｂe動詞について</a:t>
            </a:r>
            <a:endParaRPr/>
          </a:p>
        </p:txBody>
      </p:sp>
      <p:sp>
        <p:nvSpPr>
          <p:cNvPr id="278" name="Google Shape;278;g30369b3a4bd_0_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ja-JP"/>
              <a:t>学ぼう低知能のサルWWWWWWWWWWWW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0369b3a4bd_0_10" descr="王座で休むライオン"/>
          <p:cNvPicPr preferRelativeResize="0"/>
          <p:nvPr/>
        </p:nvPicPr>
        <p:blipFill rotWithShape="1">
          <a:blip r:embed="rId3">
            <a:alphaModFix/>
          </a:blip>
          <a:srcRect t="6503" b="7585"/>
          <a:stretch/>
        </p:blipFill>
        <p:spPr>
          <a:xfrm>
            <a:off x="-3047" y="10"/>
            <a:ext cx="12192000" cy="685799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0369b3a4bd_0_10"/>
          <p:cNvSpPr txBox="1">
            <a:spLocks noGrp="1"/>
          </p:cNvSpPr>
          <p:nvPr>
            <p:ph type="title"/>
          </p:nvPr>
        </p:nvSpPr>
        <p:spPr>
          <a:xfrm>
            <a:off x="1097280" y="325550"/>
            <a:ext cx="10058400" cy="35748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lang="ja-JP" sz="5200">
                <a:solidFill>
                  <a:srgbClr val="FFFFFF"/>
                </a:solidFill>
              </a:rPr>
              <a:t>be動詞とはなんだろう？</a:t>
            </a:r>
            <a:endParaRPr sz="5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0369b3a4bd_0_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ja-JP"/>
              <a:t>be動詞って？？</a:t>
            </a:r>
            <a:endParaRPr/>
          </a:p>
        </p:txBody>
      </p:sp>
      <p:sp>
        <p:nvSpPr>
          <p:cNvPr id="290" name="Google Shape;290;g30369b3a4bd_0_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ja-JP"/>
              <a:t>Be動詞は文と文をイコールでつなげる役割を持つ動詞のこと！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ja-JP"/>
              <a:t>※動詞は動きを表す言葉の種類。英語では主に一般動詞とbe動詞に分かれる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0369b3a4bd_0_20"/>
          <p:cNvSpPr txBox="1">
            <a:spLocks noGrp="1"/>
          </p:cNvSpPr>
          <p:nvPr>
            <p:ph type="title"/>
          </p:nvPr>
        </p:nvSpPr>
        <p:spPr>
          <a:xfrm>
            <a:off x="3991327" y="1583810"/>
            <a:ext cx="10653600" cy="11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ja-JP">
                <a:latin typeface="MS PGothic"/>
                <a:ea typeface="MS PGothic"/>
                <a:cs typeface="MS PGothic"/>
                <a:sym typeface="MS PGothic"/>
              </a:rPr>
              <a:t>ここでちょっとおまけ</a:t>
            </a:r>
            <a:endParaRPr/>
          </a:p>
        </p:txBody>
      </p:sp>
      <p:sp>
        <p:nvSpPr>
          <p:cNvPr id="296" name="Google Shape;296;g30369b3a4bd_0_20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600" cy="46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ja-JP"/>
              <a:t>　　　　　　　　　　　　　　　　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ja-JP"/>
              <a:t>　　　　　　　　　　　　　　　　おまけつげ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0369b3a4bd_0_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ja-JP"/>
              <a:t>be動詞と一般動詞の違い</a:t>
            </a:r>
            <a:endParaRPr/>
          </a:p>
        </p:txBody>
      </p:sp>
      <p:sp>
        <p:nvSpPr>
          <p:cNvPr id="302" name="Google Shape;302;g30369b3a4bd_0_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428"/>
              <a:buNone/>
            </a:pPr>
            <a:r>
              <a:rPr lang="ja-JP"/>
              <a:t>簡単に概念から説明すると、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1428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1428"/>
              <a:buNone/>
            </a:pPr>
            <a:r>
              <a:rPr lang="ja-JP"/>
              <a:t>　　 be動詞＝文と文をイコールでつなげる役割を持つ動詞（is,am,areなど）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1428"/>
              <a:buNone/>
            </a:pPr>
            <a:r>
              <a:rPr lang="ja-JP"/>
              <a:t>　　一般動詞＝動きを表す動詞（eat,play,visitなど）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1428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1428"/>
              <a:buNone/>
            </a:pPr>
            <a:r>
              <a:rPr lang="ja-JP"/>
              <a:t>一般動詞はbe動詞以外のものと考えよう！！！（be動詞のほうは数が少なくて覚えるのが簡単なため）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1428"/>
              <a:buNone/>
            </a:pPr>
            <a:endParaRPr/>
          </a:p>
        </p:txBody>
      </p:sp>
      <p:sp>
        <p:nvSpPr>
          <p:cNvPr id="303" name="Google Shape;303;g30369b3a4bd_0_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</a:rPr>
              <a:t>7/4/2024</a:t>
            </a:r>
            <a:endParaRPr/>
          </a:p>
        </p:txBody>
      </p:sp>
      <p:sp>
        <p:nvSpPr>
          <p:cNvPr id="304" name="Google Shape;304;g30369b3a4bd_0_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br>
              <a:rPr lang="ja-JP"/>
            </a:br>
            <a:r>
              <a:rPr lang="ja-JP"/>
              <a:t>              </a:t>
            </a:r>
            <a:endParaRPr/>
          </a:p>
        </p:txBody>
      </p:sp>
      <p:sp>
        <p:nvSpPr>
          <p:cNvPr id="305" name="Google Shape;305;g30369b3a4bd_0_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ja-JP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0369b3a4bd_0_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ja-JP"/>
              <a:t>本題　be動詞の種類</a:t>
            </a:r>
            <a:endParaRPr/>
          </a:p>
        </p:txBody>
      </p:sp>
      <p:sp>
        <p:nvSpPr>
          <p:cNvPr id="311" name="Google Shape;311;g30369b3a4bd_0_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ja-JP"/>
              <a:t>基本的にis am areしかないよ！！！！！！！！！！！お持ったより簡単！！！！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ja-JP"/>
              <a:t>Isは三人称や単数のとき、amは一人称の時、areは二人称や複数の時に使われる世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ja-JP"/>
              <a:t>早速例を見てみよう</a:t>
            </a:r>
            <a:endParaRPr/>
          </a:p>
        </p:txBody>
      </p:sp>
      <p:sp>
        <p:nvSpPr>
          <p:cNvPr id="312" name="Google Shape;312;g30369b3a4bd_0_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>
                <a:solidFill>
                  <a:schemeClr val="dk1"/>
                </a:solidFill>
              </a:rPr>
              <a:t>7/4/2024</a:t>
            </a:r>
            <a:endParaRPr/>
          </a:p>
        </p:txBody>
      </p:sp>
      <p:sp>
        <p:nvSpPr>
          <p:cNvPr id="313" name="Google Shape;313;g30369b3a4bd_0_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br>
              <a:rPr lang="ja-JP"/>
            </a:br>
            <a:r>
              <a:rPr lang="ja-JP"/>
              <a:t>              </a:t>
            </a:r>
            <a:endParaRPr/>
          </a:p>
        </p:txBody>
      </p:sp>
      <p:sp>
        <p:nvSpPr>
          <p:cNvPr id="314" name="Google Shape;314;g30369b3a4bd_0_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ja-JP"/>
              <a:t>37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905</Words>
  <Application>Microsoft Office PowerPoint</Application>
  <PresentationFormat>ワイド画面</PresentationFormat>
  <Paragraphs>169</Paragraphs>
  <Slides>37</Slides>
  <Notes>37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41" baseType="lpstr">
      <vt:lpstr>Play</vt:lpstr>
      <vt:lpstr>MS PGothic</vt:lpstr>
      <vt:lpstr>Arial</vt:lpstr>
      <vt:lpstr>Office テーマ</vt:lpstr>
      <vt:lpstr>What do you like?</vt:lpstr>
      <vt:lpstr>PowerPoint プレゼンテーション</vt:lpstr>
      <vt:lpstr>皆さんは好きな○○ありますか？</vt:lpstr>
      <vt:lpstr>皆さんは好きな○○ありますか？</vt:lpstr>
      <vt:lpstr>例えば...</vt:lpstr>
      <vt:lpstr>例えば...</vt:lpstr>
      <vt:lpstr>例えば...</vt:lpstr>
      <vt:lpstr>例えば...</vt:lpstr>
      <vt:lpstr>誰かに話してみよう！</vt:lpstr>
      <vt:lpstr>誰かに話してみよう！</vt:lpstr>
      <vt:lpstr>誰かに話してみよう！</vt:lpstr>
      <vt:lpstr>誰かに話してみよう！</vt:lpstr>
      <vt:lpstr>誰かに話してみよう！</vt:lpstr>
      <vt:lpstr>誰かに話してみよう！</vt:lpstr>
      <vt:lpstr>誰かに話してみよう！</vt:lpstr>
      <vt:lpstr>言えたかな？今度は聞いてみよう</vt:lpstr>
      <vt:lpstr>Unit4 誰かを紹介してみよう！</vt:lpstr>
      <vt:lpstr>この人は誰？</vt:lpstr>
      <vt:lpstr>この人は誰？</vt:lpstr>
      <vt:lpstr>分かったかな？次はクイズを作ってみよう！</vt:lpstr>
      <vt:lpstr>低知能の割にはやるやん、これはどうかな？</vt:lpstr>
      <vt:lpstr>正解は...</vt:lpstr>
      <vt:lpstr>次はわかるかな？</vt:lpstr>
      <vt:lpstr>正解は...</vt:lpstr>
      <vt:lpstr>今日はここまで</vt:lpstr>
      <vt:lpstr>　　Canってなぁに？</vt:lpstr>
      <vt:lpstr>Canについて学ぼう</vt:lpstr>
      <vt:lpstr>Canの使い方......</vt:lpstr>
      <vt:lpstr>わかったかな？</vt:lpstr>
      <vt:lpstr>うぇーいやるやん</vt:lpstr>
      <vt:lpstr>ばいばい！</vt:lpstr>
      <vt:lpstr>ｂe動詞について</vt:lpstr>
      <vt:lpstr>be動詞とはなんだろう？</vt:lpstr>
      <vt:lpstr>be動詞って？？</vt:lpstr>
      <vt:lpstr>ここでちょっとおまけ</vt:lpstr>
      <vt:lpstr>be動詞と一般動詞の違い</vt:lpstr>
      <vt:lpstr>本題　be動詞の種類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daiju tanaka</dc:creator>
  <cp:lastModifiedBy>大樹 田中</cp:lastModifiedBy>
  <cp:revision>6</cp:revision>
  <dcterms:created xsi:type="dcterms:W3CDTF">2024-07-04T12:48:58Z</dcterms:created>
  <dcterms:modified xsi:type="dcterms:W3CDTF">2025-11-13T09:37:58Z</dcterms:modified>
</cp:coreProperties>
</file>