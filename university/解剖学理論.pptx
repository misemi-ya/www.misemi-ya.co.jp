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BAC39-5B16-2DFA-6204-2ED12D7D0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5293C71-B089-F0F8-8E46-9C1E6F5FF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011AF4-3267-C8A9-B64E-B0F9BC31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CAFB1F-A77E-B4C8-9918-99BAACA5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CE21C1-A72A-A9F4-EEB7-48BC40C9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7498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729497-4CC9-E0A1-4EB9-1EFC6DC5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5CF7A8-D322-60AC-5EE8-E3D5FF048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2CE610-FF8C-29B5-9F59-25840BDA4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9F8E91-76DC-6535-38E2-9BBB781D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421E79-5DAD-C513-9A02-90A2B369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167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24C79D-794B-D5D3-6B4D-CC49DA9A2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47E2BB-3DCE-1E1D-6395-ECF205E7E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5711F3-B180-20E4-D187-3187215FA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8C7AB8-3C87-F457-CD3E-EB25708F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2C3A02-8231-450F-19FA-20610420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28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534E49-6728-39F0-09EC-78CA19E1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9935ED-34BE-D148-F8C2-04D6E6526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7F8DDCB-2158-046B-7F99-188936F90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E102A9-74E6-E782-E7CA-7A394280F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FB2F52-5E98-C8D8-5A9C-82240A5B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23DBC9-F431-196B-4547-69EB8B15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10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656EA2-C740-DAFF-C133-1A2D35144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C4D4B3-3D7D-70A7-6E0C-9CDC0F3C6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4465A7-1757-06D4-9F6F-A2DAA60A2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76121B-BFD4-DF2B-A884-ED0CFC040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2E58651-722A-8E10-49D4-F38AA755F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EF6F5EF-8C72-C1B6-54CF-B3EC3D51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BF5D6B6-20C5-64F1-F1EF-EF6B89C6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3658031-3238-B7EC-4E0F-D81A74038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33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4AAA61-93FD-7509-5C22-99C039AD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A62CA16-0C04-C4C0-9BF7-F19E486A3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6EF2645-D44F-35E9-B03A-357D0275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2D6ACE-C314-283E-94BD-6CDAB835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261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067A7A4-974F-9763-0115-6F9BFD997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A407390-A7BC-E849-7818-8594D1B4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E82976-3DBE-5B71-A279-804132722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50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80E9B9-2F35-CCA4-DB30-BA33EDD3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77DB4B-5D58-1092-D593-4D652068E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45007D-21B3-8DBA-7CD7-95EEB780D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CF2A62-6A4C-2042-F2BE-5F8EDFFE4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D9ED37-E940-C815-21BC-874913996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B7F5A0-A471-926E-4827-D826BA32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41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2E9633-32DB-33F1-A513-2AAFE15B6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DF6E38C-A141-34D9-E271-143038E26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63EE8F-1002-5D4E-AD1D-C60F98697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8D626B-3A04-93C3-51D9-70E35A65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94895B-B51D-923F-CF15-AAD47A32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4425E2-CCA6-E71E-0F81-6C11E0D6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5863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CBF78-73C9-EC87-84AA-2BA7444C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31401B-F40A-2B4A-1332-D850DCA12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96043C-A9BD-2053-A7E2-6370D7AC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F91DE0-5C62-3B2E-0A14-33F96234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F10802-9F95-C083-1C50-B7E104AF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641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C418F7E-C6CA-B82E-66D1-EDA644BFE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2E9D4E-1854-65E8-DAC3-92D40BF6C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0CC28E-DED6-564C-81D8-F6191919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1CC53D-8DE7-01B7-380F-6AAF96CC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8663F2-6D93-BD98-09FB-4C037FAC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674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3CA310B-9642-082A-1A79-394F6C34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F53A24-8339-5FBB-8C2C-9DB713883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CDF106-3A5E-B5BE-64F7-000077813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5C5F6-8767-4F77-AA3D-571EFECA9C73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8EA5E5-754C-13D0-9A58-BBD47666ED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79AEB4-CDFF-9D6E-341A-5E73419BF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0ABF2-67D9-40D4-8A62-6ED6D3498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671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3F0660-2636-B644-25C0-8D9487A18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500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解剖学理論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2DCFDBD-643B-997F-7B23-4501D5A43A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0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人体構造の基礎</a:t>
            </a:r>
          </a:p>
        </p:txBody>
      </p:sp>
    </p:spTree>
    <p:extLst>
      <p:ext uri="{BB962C8B-B14F-4D97-AF65-F5344CB8AC3E}">
        <p14:creationId xmlns:p14="http://schemas.microsoft.com/office/powerpoint/2010/main" val="74306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EF6CA6-2336-BE91-A140-106F0BB4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76160D-1056-693C-F92F-5B124B76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１，解剖学とは？</a:t>
            </a:r>
            <a:endParaRPr kumimoji="1" lang="en-US" altLang="ja-JP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２，なぜ解剖学を学ぶのか</a:t>
            </a:r>
            <a:endParaRPr lang="en-US" altLang="ja-JP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  <a:p>
            <a:pPr marL="0" indent="0">
              <a:buNone/>
            </a:pPr>
            <a:r>
              <a:rPr kumimoji="1" lang="ja-JP" altLang="en-US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３，解剖学の学習方法</a:t>
            </a:r>
            <a:endParaRPr kumimoji="1" lang="en-US" altLang="ja-JP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４，本講義の目標</a:t>
            </a:r>
            <a:endParaRPr kumimoji="1" lang="ja-JP" altLang="en-US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104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A18828-A8AC-D27E-49E7-32A6ED08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１，解剖学とは？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DAB022-2A97-656C-4956-A984B2D3F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kumimoji="1" lang="ja-JP" altLang="en-US" sz="3000" b="1" dirty="0"/>
              <a:t>定義</a:t>
            </a:r>
            <a:endParaRPr kumimoji="1" lang="en-US" altLang="ja-JP" sz="3000" b="1" dirty="0"/>
          </a:p>
          <a:p>
            <a:pPr marL="0" indent="0">
              <a:buNone/>
            </a:pPr>
            <a:r>
              <a:rPr lang="ja-JP" altLang="en-US" dirty="0"/>
              <a:t>・生物の</a:t>
            </a:r>
            <a:r>
              <a:rPr lang="ja-JP" altLang="en-US" b="1" dirty="0"/>
              <a:t>構造</a:t>
            </a:r>
            <a:r>
              <a:rPr lang="ja-JP" altLang="en-US" dirty="0"/>
              <a:t>を研究する学問。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・特に人体解剖学は、</a:t>
            </a:r>
            <a:r>
              <a:rPr lang="ja-JP" altLang="en-US" b="1" dirty="0"/>
              <a:t>人間の体の各部位の形、位置関係、組織構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成</a:t>
            </a:r>
            <a:r>
              <a:rPr lang="ja-JP" altLang="en-US" dirty="0"/>
              <a:t>などを詳細に調べる学問です。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sz="3000" b="1" dirty="0"/>
          </a:p>
          <a:p>
            <a:pPr marL="0" indent="0">
              <a:buNone/>
            </a:pPr>
            <a:r>
              <a:rPr kumimoji="1" lang="ja-JP" altLang="en-US" sz="3000" b="1" dirty="0"/>
              <a:t>語源</a:t>
            </a:r>
            <a:endParaRPr kumimoji="1" lang="en-US" altLang="ja-JP" sz="3000" b="1" dirty="0"/>
          </a:p>
          <a:p>
            <a:pPr marL="0" indent="0">
              <a:buNone/>
            </a:pPr>
            <a:r>
              <a:rPr lang="ja-JP" altLang="en-US" dirty="0"/>
              <a:t>・ギリシャ語の</a:t>
            </a:r>
            <a:r>
              <a:rPr lang="af-ZA" altLang="ja-JP" i="1" dirty="0">
                <a:effectLst/>
              </a:rPr>
              <a:t>anatomē</a:t>
            </a:r>
            <a:r>
              <a:rPr lang="af-ZA" altLang="ja-JP" dirty="0"/>
              <a:t> (</a:t>
            </a:r>
            <a:r>
              <a:rPr lang="el-GR" altLang="ja-JP" dirty="0"/>
              <a:t>ἀνατομή)</a:t>
            </a:r>
            <a:r>
              <a:rPr lang="ja-JP" altLang="en-US" dirty="0"/>
              <a:t>に由来。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</a:t>
            </a:r>
            <a:r>
              <a:rPr lang="en-US" altLang="ja-JP" dirty="0">
                <a:latin typeface="UD デジタル 教科書体"/>
              </a:rPr>
              <a:t>”ana-”</a:t>
            </a:r>
            <a:r>
              <a:rPr lang="ja-JP" altLang="en-US" dirty="0">
                <a:latin typeface="UD デジタル 教科書体"/>
              </a:rPr>
              <a:t>（～に沿って、～の上に）</a:t>
            </a:r>
            <a:r>
              <a:rPr lang="en-US" altLang="ja-JP" dirty="0">
                <a:latin typeface="UD デジタル 教科書体"/>
              </a:rPr>
              <a:t>+”</a:t>
            </a:r>
            <a:r>
              <a:rPr lang="af-ZA" altLang="ja-JP" i="1" dirty="0">
                <a:effectLst/>
              </a:rPr>
              <a:t>tomē </a:t>
            </a:r>
            <a:r>
              <a:rPr lang="en-US" altLang="ja-JP" dirty="0">
                <a:latin typeface="UD デジタル 教科書体"/>
              </a:rPr>
              <a:t>”</a:t>
            </a:r>
            <a:r>
              <a:rPr lang="ja-JP" altLang="en-US" dirty="0">
                <a:latin typeface="UD デジタル 教科書体"/>
              </a:rPr>
              <a:t>（切ること）</a:t>
            </a:r>
            <a:r>
              <a:rPr lang="en-US" altLang="ja-JP" dirty="0">
                <a:latin typeface="UD デジタル 教科書体"/>
              </a:rPr>
              <a:t>=</a:t>
            </a:r>
            <a:r>
              <a:rPr lang="ja-JP" altLang="en-US" dirty="0">
                <a:latin typeface="UD デジタル 教科書体"/>
              </a:rPr>
              <a:t>「切り開くこと」を意味します。</a:t>
            </a:r>
            <a:endParaRPr lang="en-US" altLang="ja-JP" dirty="0">
              <a:latin typeface="UD デジタル 教科書体"/>
            </a:endParaRPr>
          </a:p>
          <a:p>
            <a:pPr marL="0" indent="0">
              <a:buNone/>
            </a:pPr>
            <a:r>
              <a:rPr kumimoji="1" lang="ja-JP" altLang="en-US" dirty="0">
                <a:latin typeface="UD デジタル 教科書体"/>
              </a:rPr>
              <a:t>・まさに、実際に体を切り開いて観察することから発展した学問です。</a:t>
            </a:r>
            <a:endParaRPr kumimoji="1" lang="en-US" altLang="ja-JP" dirty="0">
              <a:latin typeface="UD デジタル 教科書体"/>
            </a:endParaRPr>
          </a:p>
        </p:txBody>
      </p:sp>
    </p:spTree>
    <p:extLst>
      <p:ext uri="{BB962C8B-B14F-4D97-AF65-F5344CB8AC3E}">
        <p14:creationId xmlns:p14="http://schemas.microsoft.com/office/powerpoint/2010/main" val="703537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56540B-AEA5-BE22-9C5F-BCCDD76B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２，なぜ解剖学を学ぶのか？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E896E8-BE76-D4DF-EE35-885DC7E2C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1" lang="ja-JP" altLang="en-US" sz="3000" b="1" dirty="0"/>
              <a:t>医療の基礎</a:t>
            </a:r>
            <a:endParaRPr kumimoji="1" lang="en-US" altLang="ja-JP" sz="3000" b="1" dirty="0"/>
          </a:p>
          <a:p>
            <a:pPr marL="0" indent="0">
              <a:buNone/>
            </a:pPr>
            <a:r>
              <a:rPr lang="ja-JP" altLang="en-US" dirty="0"/>
              <a:t>・すべての医学の基礎となります。体の正常な構造を理解しなければ、異常（病気）を理解することはできません。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・診断（画像診断、触診など）、治療（手術、投薬など）のすべてにおいて、解剖学的知識が不可欠です。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sz="3000" b="1" dirty="0"/>
              <a:t>臨床応用</a:t>
            </a:r>
            <a:endParaRPr kumimoji="1" lang="en-US" altLang="ja-JP" sz="3000" b="1" dirty="0"/>
          </a:p>
          <a:p>
            <a:pPr marL="0" indent="0">
              <a:buNone/>
            </a:pPr>
            <a:r>
              <a:rPr lang="ja-JP" altLang="en-US" dirty="0"/>
              <a:t>・手術</a:t>
            </a:r>
            <a:r>
              <a:rPr lang="en-US" altLang="ja-JP" dirty="0"/>
              <a:t>:</a:t>
            </a:r>
            <a:r>
              <a:rPr lang="ja-JP" altLang="en-US" dirty="0"/>
              <a:t>正しい位置を切開し、重要な血管や神経を損傷しないために。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・画像診療</a:t>
            </a:r>
            <a:r>
              <a:rPr kumimoji="1" lang="en-US" altLang="ja-JP" dirty="0"/>
              <a:t>:X</a:t>
            </a:r>
            <a:r>
              <a:rPr kumimoji="1" lang="ja-JP" altLang="en-US" dirty="0"/>
              <a:t>線、</a:t>
            </a:r>
            <a:r>
              <a:rPr lang="en-US" altLang="ja-JP" dirty="0"/>
              <a:t>CT</a:t>
            </a:r>
            <a:r>
              <a:rPr lang="ja-JP" altLang="en-US" dirty="0"/>
              <a:t>、</a:t>
            </a:r>
            <a:r>
              <a:rPr lang="en-US" altLang="ja-JP" dirty="0"/>
              <a:t>MRI</a:t>
            </a:r>
            <a:r>
              <a:rPr lang="ja-JP" altLang="en-US" dirty="0"/>
              <a:t>画像から、臓器の位置や病変を正確に読み取るために。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・身体診察</a:t>
            </a:r>
            <a:r>
              <a:rPr lang="en-US" altLang="ja-JP" dirty="0"/>
              <a:t>:</a:t>
            </a:r>
            <a:r>
              <a:rPr lang="ja-JP" altLang="en-US" dirty="0"/>
              <a:t>聴診、触診、珍論を通じて、体の内部の状況を把握するために。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3100" b="1" dirty="0"/>
              <a:t>多様な専門分野との連携</a:t>
            </a:r>
            <a:endParaRPr lang="en-US" altLang="ja-JP" sz="3100" b="1" dirty="0"/>
          </a:p>
          <a:p>
            <a:pPr marL="0" indent="0">
              <a:buNone/>
            </a:pPr>
            <a:r>
              <a:rPr lang="ja-JP" altLang="en-US" dirty="0"/>
              <a:t>・生理学、病理学、薬理学、さらにはリハビリステーション、スポーツ医学など、多岐にわたる医療分野で解剖学の知識が応用されます。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2628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C96B5-2EED-5813-726E-F13C8ED26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３，解剖学の学習方法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82C95C-F2F6-9CF3-CF61-12996CCB7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ja-JP" altLang="en-US" sz="3000" b="1" dirty="0"/>
              <a:t>視覚的学習</a:t>
            </a:r>
            <a:endParaRPr lang="en-US" altLang="ja-JP" sz="3000" b="1" dirty="0"/>
          </a:p>
          <a:p>
            <a:pPr marL="0" indent="0">
              <a:buNone/>
            </a:pPr>
            <a:r>
              <a:rPr kumimoji="1" lang="ja-JP" altLang="en-US" dirty="0"/>
              <a:t>・教科書の図、解剖図、</a:t>
            </a:r>
            <a:r>
              <a:rPr lang="en-US" altLang="ja-JP" dirty="0"/>
              <a:t>3D</a:t>
            </a:r>
            <a:r>
              <a:rPr lang="ja-JP" altLang="en-US" dirty="0"/>
              <a:t>モデル、標本、解剖実習（ご遺体を用いた学習）が中心となります。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・視覚的にイメージできるまで繰り返し観察することが重要です。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sz="3000" b="1" dirty="0"/>
              <a:t>体系的理解</a:t>
            </a:r>
            <a:endParaRPr kumimoji="1" lang="en-US" altLang="ja-JP" sz="3000" b="1" dirty="0"/>
          </a:p>
          <a:p>
            <a:pPr marL="0" indent="0">
              <a:buNone/>
            </a:pPr>
            <a:r>
              <a:rPr lang="ja-JP" altLang="en-US" dirty="0"/>
              <a:t>・各部位が独立しているのではなく、互いにどのように関連しているかを理解することが大切です。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・臓器、骨、筋肉、血管、神経などがどのように連結し、一つのシステムとして機能しているかを学びます。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sz="3000" b="1" dirty="0"/>
              <a:t>用語の習得</a:t>
            </a:r>
            <a:endParaRPr lang="en-US" altLang="ja-JP" sz="3000" b="1" dirty="0"/>
          </a:p>
          <a:p>
            <a:pPr marL="0" indent="0">
              <a:buNone/>
            </a:pPr>
            <a:r>
              <a:rPr kumimoji="1" lang="ja-JP" altLang="en-US" dirty="0"/>
              <a:t>・多くの専門用語（ラテン語由来が多い）を正確に覚え、使えるようになる必要があります。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・例</a:t>
            </a:r>
            <a:r>
              <a:rPr lang="en-US" altLang="ja-JP" dirty="0"/>
              <a:t>:Anterior</a:t>
            </a:r>
            <a:r>
              <a:rPr lang="ja-JP" altLang="en-US" dirty="0"/>
              <a:t>（前方）</a:t>
            </a:r>
            <a:r>
              <a:rPr lang="en-US" altLang="ja-JP" dirty="0"/>
              <a:t>,Posterior</a:t>
            </a:r>
            <a:r>
              <a:rPr lang="ja-JP" altLang="en-US" dirty="0"/>
              <a:t>（後方）</a:t>
            </a:r>
            <a:r>
              <a:rPr lang="en-US" altLang="ja-JP" dirty="0"/>
              <a:t>,</a:t>
            </a:r>
            <a:r>
              <a:rPr lang="en-US" altLang="ja-JP" dirty="0" err="1"/>
              <a:t>Superinr</a:t>
            </a:r>
            <a:r>
              <a:rPr lang="ja-JP" altLang="en-US" dirty="0"/>
              <a:t>（上方）</a:t>
            </a:r>
            <a:r>
              <a:rPr lang="en-US" altLang="ja-JP" dirty="0"/>
              <a:t>Inferior</a:t>
            </a:r>
            <a:r>
              <a:rPr lang="ja-JP" altLang="en-US" dirty="0"/>
              <a:t>（下方）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647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E9C4CA-8F4A-FA1F-DBD5-D29F280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４，本講義の目標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3E0BF5-E335-68E2-6482-9DF016BDD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000" dirty="0"/>
              <a:t>・人体の主要な骨</a:t>
            </a:r>
            <a:r>
              <a:rPr lang="ja-JP" altLang="en-US" sz="3000" dirty="0"/>
              <a:t>、筋肉、臓器、神経、血管の基本的な構造と位置関係を理解する。</a:t>
            </a:r>
            <a:endParaRPr lang="en-US" altLang="ja-JP" sz="3000" dirty="0"/>
          </a:p>
          <a:p>
            <a:pPr marL="0" indent="0">
              <a:buNone/>
            </a:pPr>
            <a:r>
              <a:rPr kumimoji="1" lang="ja-JP" altLang="en-US" sz="3000" dirty="0"/>
              <a:t>・解剖学的な専門用語を習得し、正確に表現できる力を養う。</a:t>
            </a:r>
            <a:endParaRPr kumimoji="1" lang="en-US" altLang="ja-JP" sz="3000" dirty="0"/>
          </a:p>
          <a:p>
            <a:pPr marL="0" indent="0">
              <a:buNone/>
            </a:pPr>
            <a:r>
              <a:rPr kumimoji="1" lang="ja-JP" altLang="en-US" sz="3000" dirty="0"/>
              <a:t>・今後の生理学、病理学、臨床医学学習の頑固な基礎を築く。</a:t>
            </a:r>
            <a:endParaRPr kumimoji="1" lang="en-US" altLang="ja-JP" sz="3000" dirty="0"/>
          </a:p>
        </p:txBody>
      </p:sp>
    </p:spTree>
    <p:extLst>
      <p:ext uri="{BB962C8B-B14F-4D97-AF65-F5344CB8AC3E}">
        <p14:creationId xmlns:p14="http://schemas.microsoft.com/office/powerpoint/2010/main" val="3002234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GP創英ﾌﾟﾚｾﾞﾝｽEB">
      <a:majorFont>
        <a:latin typeface="HGP創英ﾌﾟﾚｾﾞﾝｽEB"/>
        <a:ea typeface="HGP創英ﾌﾟﾚｾﾞﾝｽEB"/>
        <a:cs typeface=""/>
      </a:majorFont>
      <a:minorFont>
        <a:latin typeface="UD デジタル 教科書体 N"/>
        <a:ea typeface="UD デジタル 教科書体 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ワイド画面</PresentationFormat>
  <Paragraphs>41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HGP行書体</vt:lpstr>
      <vt:lpstr>HGP創英ﾌﾟﾚｾﾞﾝｽEB</vt:lpstr>
      <vt:lpstr>UD デジタル 教科書体</vt:lpstr>
      <vt:lpstr>UD デジタル 教科書体 N</vt:lpstr>
      <vt:lpstr>Arial</vt:lpstr>
      <vt:lpstr>Office テーマ</vt:lpstr>
      <vt:lpstr>解剖学理論</vt:lpstr>
      <vt:lpstr>目次</vt:lpstr>
      <vt:lpstr>１，解剖学とは？</vt:lpstr>
      <vt:lpstr>２，なぜ解剖学を学ぶのか？</vt:lpstr>
      <vt:lpstr>３，解剖学の学習方法</vt:lpstr>
      <vt:lpstr>４，本講義の目標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大樹 田中</dc:creator>
  <cp:lastModifiedBy>大樹 田中</cp:lastModifiedBy>
  <cp:revision>1</cp:revision>
  <dcterms:created xsi:type="dcterms:W3CDTF">2025-11-16T12:40:17Z</dcterms:created>
  <dcterms:modified xsi:type="dcterms:W3CDTF">2025-11-16T12:41:01Z</dcterms:modified>
</cp:coreProperties>
</file>